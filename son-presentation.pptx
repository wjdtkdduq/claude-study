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40FF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-1371600"/>
            <a:ext cx="7315200" cy="4572000"/>
          </a:xfrm>
          <a:prstGeom prst="ellipse">
            <a:avLst/>
          </a:prstGeom>
          <a:solidFill>
            <a:srgbClr val="5B40F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B40FF"/>
                </a:solidFill>
              </a:rPr>
              <a:t>⚠  경고 : 과도한 완벽함 포함  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E8F0"/>
                </a:solidFill>
              </a:rPr>
              <a:t>손흥민이 </a:t>
            </a:r>
            <a:pPr algn="ctr" indent="0" marL="0">
              <a:buNone/>
            </a:pPr>
            <a:r>
              <a:rPr lang="en-US" sz="5400" b="1" dirty="0">
                <a:solidFill>
                  <a:srgbClr val="5B40FF"/>
                </a:solidFill>
              </a:rPr>
              <a:t>역겨운</a:t>
            </a:r>
            <a:pPr algn="ctr" indent="0" marL="0">
              <a:buNone/>
            </a:pPr>
            <a:r>
              <a:rPr lang="en-US" sz="5400" b="1" dirty="0">
                <a:solidFill>
                  <a:srgbClr val="E8E8F0"/>
                </a:solidFill>
              </a:rPr>
              <a:t> 이유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8899"/>
                </a:solidFill>
              </a:rPr>
              <a:t>알면 알수록 더 역겨워지는 이 남자의 진실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8899"/>
                </a:solidFill>
              </a:rPr>
              <a:t>— 손흥민을 좋아하는 사람을 위한 30분짜리 고통 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3429000"/>
            <a:ext cx="2194560" cy="1234440"/>
          </a:xfrm>
          <a:prstGeom prst="roundRect">
            <a:avLst>
              <a:gd name="adj" fmla="val 8889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5204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40FF"/>
                </a:solidFill>
              </a:rPr>
              <a:t>30분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71600" y="41330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발표 시간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0" y="3429000"/>
            <a:ext cx="2194560" cy="1234440"/>
          </a:xfrm>
          <a:prstGeom prst="roundRect">
            <a:avLst>
              <a:gd name="adj" fmla="val 8889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35204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40FF"/>
                </a:solidFill>
              </a:rPr>
              <a:t>∞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840480" y="41330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역겨움 지수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3429000"/>
            <a:ext cx="2194560" cy="1234440"/>
          </a:xfrm>
          <a:prstGeom prst="roundRect">
            <a:avLst>
              <a:gd name="adj" fmla="val 8889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5204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40FF"/>
                </a:solidFill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41330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변명의 여지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40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B40FF"/>
                </a:solidFill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E8F0"/>
                </a:solidFill>
              </a:rPr>
              <a:t>오늘의 </a:t>
            </a:r>
            <a:pPr algn="ctr" indent="0" marL="0">
              <a:buNone/>
            </a:pPr>
            <a:r>
              <a:rPr lang="en-US" sz="3200" b="1" dirty="0">
                <a:solidFill>
                  <a:srgbClr val="5B40FF"/>
                </a:solidFill>
              </a:rPr>
              <a:t>역겨움 목록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4114800" cy="1325880"/>
          </a:xfrm>
          <a:prstGeom prst="roundRect">
            <a:avLst>
              <a:gd name="adj" fmla="val 8276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40FF"/>
                </a:solidFill>
              </a:rPr>
              <a:t>PART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F0"/>
                </a:solidFill>
              </a:rPr>
              <a:t>그는 대체 누구인가?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기본 스펙 소개 (~5분)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737360"/>
            <a:ext cx="4114800" cy="1325880"/>
          </a:xfrm>
          <a:prstGeom prst="roundRect">
            <a:avLst>
              <a:gd name="adj" fmla="val 8276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874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40FF"/>
                </a:solidFill>
              </a:rPr>
              <a:t>PART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21762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F0"/>
                </a:solidFill>
              </a:rPr>
              <a:t>말도 안 되는 성과들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606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통계와 기록 (~7분)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4114800" cy="1325880"/>
          </a:xfrm>
          <a:prstGeom prst="roundRect">
            <a:avLst>
              <a:gd name="adj" fmla="val 8276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83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40FF"/>
                </a:solidFill>
              </a:rPr>
              <a:t>PART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6850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F0"/>
                </a:solidFill>
              </a:rPr>
              <a:t>인성까지 역겨운 이유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인격과 인성 (~8분)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246120"/>
            <a:ext cx="4114800" cy="1325880"/>
          </a:xfrm>
          <a:prstGeom prst="roundRect">
            <a:avLst>
              <a:gd name="adj" fmla="val 8276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383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40FF"/>
                </a:solidFill>
              </a:rPr>
              <a:t>PART 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6850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F0"/>
                </a:solidFill>
              </a:rPr>
              <a:t>왜 우리는 희망이 없나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4114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글로벌 영향력 + 결론 (~10분)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40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B40FF"/>
                </a:solidFill>
              </a:rPr>
              <a:t>PART 1 — 기본 스펙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E8F0"/>
                </a:solidFill>
              </a:rPr>
              <a:t>손흥민, </a:t>
            </a:r>
            <a:pPr algn="ctr" indent="0" marL="0">
              <a:buNone/>
            </a:pPr>
            <a:r>
              <a:rPr lang="en-US" sz="3200" b="1" dirty="0">
                <a:solidFill>
                  <a:srgbClr val="5B40FF"/>
                </a:solidFill>
              </a:rPr>
              <a:t>이 남자가</a:t>
            </a:r>
            <a:pPr algn="ctr" indent="0" marL="0">
              <a:buNone/>
            </a:pPr>
            <a:r>
              <a:rPr lang="en-US" sz="3200" b="1" dirty="0">
                <a:solidFill>
                  <a:srgbClr val="E8E8F0"/>
                </a:solidFill>
              </a:rPr>
              <a:t> 누구냐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🇰🇷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3042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8F0"/>
                </a:solidFill>
              </a:rPr>
              <a:t>수원 출신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715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1992년 7월 8일생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⚽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23042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8F0"/>
                </a:solidFill>
              </a:rPr>
              <a:t>토트넘 홋스퍼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2715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2015년~ 주장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9360" y="23042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8F0"/>
                </a:solidFill>
              </a:rPr>
              <a:t>아시아 레전드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2715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EPL 최고 아시아 선수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99"/>
                </a:solidFill>
              </a:rPr>
              <a:t>함부르크 유스 → 함부르크 1군 → 레버쿠젠 → 토트넘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99"/>
                </a:solidFill>
              </a:rPr>
              <a:t>"그냥 축구 좀 잘하는 한국인"이라고 생각했다면... 이 발표가 끝날 때까지 후회하게 될 것입니다.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40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B40FF"/>
                </a:solidFill>
              </a:rPr>
              <a:t>역겨운 이유 #1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E8F0"/>
                </a:solidFill>
              </a:rPr>
              <a:t>아버지가 </a:t>
            </a:r>
            <a:pPr algn="ctr" indent="0" marL="0">
              <a:buNone/>
            </a:pPr>
            <a:r>
              <a:rPr lang="en-US" sz="3200" b="1" dirty="0">
                <a:solidFill>
                  <a:srgbClr val="5B40FF"/>
                </a:solidFill>
              </a:rPr>
              <a:t>손웅정</a:t>
            </a:r>
            <a:pPr algn="ctr" indent="0" marL="0">
              <a:buNone/>
            </a:pPr>
            <a:r>
              <a:rPr lang="en-US" sz="3200" b="1" dirty="0">
                <a:solidFill>
                  <a:srgbClr val="E8E8F0"/>
                </a:solidFill>
              </a:rPr>
              <a:t>이다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01368"/>
            <a:ext cx="502920" cy="411480"/>
          </a:xfrm>
          <a:prstGeom prst="rect">
            <a:avLst>
              <a:gd name="adj" fmla="val 13333"/>
            </a:avLst>
          </a:prstGeom>
          <a:solidFill>
            <a:srgbClr val="1A1428"/>
          </a:solidFill>
          <a:ln w="12700">
            <a:solidFill>
              <a:srgbClr val="5B40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0FF"/>
                </a:solidFill>
              </a:rPr>
              <a:t>#1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78308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8F0"/>
                </a:solidFill>
              </a:rPr>
              <a:t>전 프로축구 선수 아버지가 직접 코치가 되어 어린 시절부터 1:1 맞춤 훈련 진행. 일반인은 돈을 줘도 받을 수 없는 시스템.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78608"/>
            <a:ext cx="502920" cy="411480"/>
          </a:xfrm>
          <a:prstGeom prst="rect">
            <a:avLst>
              <a:gd name="adj" fmla="val 13333"/>
            </a:avLst>
          </a:prstGeom>
          <a:solidFill>
            <a:srgbClr val="1A1428"/>
          </a:solidFill>
          <a:ln w="12700">
            <a:solidFill>
              <a:srgbClr val="5B40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0FF"/>
                </a:solidFill>
              </a:rPr>
              <a:t>#2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256032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8F0"/>
                </a:solidFill>
              </a:rPr>
              <a:t>만 12세에 독일 함부르크 유소년팀 입단 — 부모와 떨어져 혼자 독일에서 적응. 평범한 12살이 할 수 있는 일이 아님.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55848"/>
            <a:ext cx="502920" cy="411480"/>
          </a:xfrm>
          <a:prstGeom prst="rect">
            <a:avLst>
              <a:gd name="adj" fmla="val 13333"/>
            </a:avLst>
          </a:prstGeom>
          <a:solidFill>
            <a:srgbClr val="1A1428"/>
          </a:solidFill>
          <a:ln w="12700">
            <a:solidFill>
              <a:srgbClr val="5B40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0FF"/>
                </a:solidFill>
              </a:rPr>
              <a:t>#3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33375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8F0"/>
                </a:solidFill>
              </a:rPr>
              <a:t>손웅정 감독은 "화려함보다 기본기"를 강조, 어린 흥민이의 양발 능력을 일찍부터 개발. 이게 훗날 EPL 황금부츠의 씨앗.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133088"/>
            <a:ext cx="502920" cy="411480"/>
          </a:xfrm>
          <a:prstGeom prst="rect">
            <a:avLst>
              <a:gd name="adj" fmla="val 13333"/>
            </a:avLst>
          </a:prstGeom>
          <a:solidFill>
            <a:srgbClr val="1A1428"/>
          </a:solidFill>
          <a:ln w="12700">
            <a:solidFill>
              <a:srgbClr val="5B40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0FF"/>
                </a:solidFill>
              </a:rPr>
              <a:t>#4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34440" y="41148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8F0"/>
                </a:solidFill>
              </a:rPr>
              <a:t>단순히 운이 좋은 게 아니다. 설계된 천재인데 노력까지 했다는 것이 역겨운 이유.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40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B40FF"/>
                </a:solidFill>
              </a:rPr>
              <a:t>PART 2 — 말도 안 되는 성과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2022 EPL 황금부츠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8F0"/>
                </a:solidFill>
              </a:rPr>
              <a:t>아시아 선수 역사상 최초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931920" cy="1188720"/>
          </a:xfrm>
          <a:prstGeom prst="roundRect">
            <a:avLst>
              <a:gd name="adj" fmla="val 9231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7568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40FF"/>
                </a:solidFill>
              </a:rPr>
              <a:t>23골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7157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2021-22 EPL 득점 (공동 1위)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965960"/>
            <a:ext cx="3931920" cy="1188720"/>
          </a:xfrm>
          <a:prstGeom prst="roundRect">
            <a:avLst>
              <a:gd name="adj" fmla="val 9231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07568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1위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46320" y="27157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아시아 선수 최초 황금부츠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3931920" cy="1188720"/>
          </a:xfrm>
          <a:prstGeom prst="roundRect">
            <a:avLst>
              <a:gd name="adj" fmla="val 9231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4728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40FF"/>
                </a:solidFill>
              </a:rPr>
              <a:t>살라흐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48640" y="40873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공동 수상자 (23골)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337560"/>
            <a:ext cx="3931920" cy="1188720"/>
          </a:xfrm>
          <a:prstGeom prst="roundRect">
            <a:avLst>
              <a:gd name="adj" fmla="val 9231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44728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40FF"/>
                </a:solidFill>
              </a:rPr>
              <a:t>100%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46320" y="40873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역겨움 달성률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40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B40FF"/>
                </a:solidFill>
              </a:rPr>
              <a:t>역겨운 이유 #2 — 통계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E8F0"/>
                </a:solidFill>
              </a:rPr>
              <a:t>이 </a:t>
            </a:r>
            <a:pPr algn="ctr" indent="0" marL="0">
              <a:buNone/>
            </a:pPr>
            <a:r>
              <a:rPr lang="en-US" sz="3200" b="1" dirty="0">
                <a:solidFill>
                  <a:srgbClr val="5B40FF"/>
                </a:solidFill>
              </a:rPr>
              <a:t>숫자들</a:t>
            </a:r>
            <a:pPr algn="ctr" indent="0" marL="0">
              <a:buNone/>
            </a:pPr>
            <a:r>
              <a:rPr lang="en-US" sz="3200" b="1" dirty="0">
                <a:solidFill>
                  <a:srgbClr val="E8E8F0"/>
                </a:solidFill>
              </a:rPr>
              <a:t>을 보십시오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64592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37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40FF"/>
                </a:solidFill>
              </a:rPr>
              <a:t>170+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EPL 통산 골 (진행 중)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64592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737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40FF"/>
                </a:solidFill>
              </a:rPr>
              <a:t>100+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5468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대한민국 A매치 출전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164592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1737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40FF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8932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국가대표 통산 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108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40FF"/>
                </a:solidFill>
              </a:rPr>
              <a:t>13+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0040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EPL 활동 시즌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54680" y="301752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3108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40FF"/>
                </a:solidFill>
              </a:rPr>
              <a:t>양발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154680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왼발·오른발 모두 수준급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9320" y="301752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3108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</a:rPr>
              <a:t>만점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989320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팬 비율 (국내외 통합)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40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B40FF"/>
                </a:solidFill>
              </a:rPr>
              <a:t>역겨운 이유 #3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E8F0"/>
                </a:solidFill>
              </a:rPr>
              <a:t>UCL 결승 진출, </a:t>
            </a:r>
            <a:pPr algn="ctr" indent="0" marL="0">
              <a:buNone/>
            </a:pPr>
            <a:r>
              <a:rPr lang="en-US" sz="3200" b="1" dirty="0">
                <a:solidFill>
                  <a:srgbClr val="5B40FF"/>
                </a:solidFill>
              </a:rPr>
              <a:t>그 역겨운 여정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50392" y="2240280"/>
            <a:ext cx="0" cy="777240"/>
          </a:xfrm>
          <a:prstGeom prst="line">
            <a:avLst/>
          </a:prstGeom>
          <a:noFill/>
          <a:ln w="12700">
            <a:solidFill>
              <a:srgbClr val="5B40F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21792" y="1755648"/>
            <a:ext cx="457200" cy="457200"/>
          </a:xfrm>
          <a:prstGeom prst="ellipse">
            <a:avLst/>
          </a:prstGeom>
          <a:solidFill>
            <a:srgbClr val="1A1040"/>
          </a:solidFill>
          <a:ln w="25400">
            <a:solidFill>
              <a:srgbClr val="5B4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4440" y="1737360"/>
            <a:ext cx="7452360" cy="777240"/>
          </a:xfrm>
          <a:prstGeom prst="roundRect">
            <a:avLst>
              <a:gd name="adj" fmla="val 14118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8105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40FF"/>
                </a:solidFill>
              </a:rPr>
              <a:t>2018-19 UCL 8강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208483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8F0"/>
                </a:solidFill>
              </a:rPr>
              <a:t>맨시티 원정 — 오른팔 골절 부상 중에 출전해 해트트릭. 부상 중에 해트트릭이라는 인간 한계를 초월한 기록.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392" y="3291840"/>
            <a:ext cx="0" cy="777240"/>
          </a:xfrm>
          <a:prstGeom prst="line">
            <a:avLst/>
          </a:prstGeom>
          <a:noFill/>
          <a:ln w="12700">
            <a:solidFill>
              <a:srgbClr val="5B40FF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21792" y="2807208"/>
            <a:ext cx="457200" cy="457200"/>
          </a:xfrm>
          <a:prstGeom prst="ellipse">
            <a:avLst/>
          </a:prstGeom>
          <a:solidFill>
            <a:srgbClr val="1A1040"/>
          </a:solidFill>
          <a:ln w="25400">
            <a:solidFill>
              <a:srgbClr val="5B4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34440" y="2788920"/>
            <a:ext cx="7452360" cy="777240"/>
          </a:xfrm>
          <a:prstGeom prst="roundRect">
            <a:avLst>
              <a:gd name="adj" fmla="val 14118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8620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40FF"/>
                </a:solidFill>
              </a:rPr>
              <a:t>2019 UCL 4강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313639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8F0"/>
                </a:solidFill>
              </a:rPr>
              <a:t>아약스 원정. 구단 역사상 첫 결승 진출에 핵심 기여. 유럽 전체가 토트넘을 주목하기 시작한 순간.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" y="3858768"/>
            <a:ext cx="457200" cy="457200"/>
          </a:xfrm>
          <a:prstGeom prst="ellipse">
            <a:avLst/>
          </a:prstGeom>
          <a:solidFill>
            <a:srgbClr val="1A1040"/>
          </a:solidFill>
          <a:ln w="25400">
            <a:solidFill>
              <a:srgbClr val="5B4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🌟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34440" y="3840480"/>
            <a:ext cx="7452360" cy="777240"/>
          </a:xfrm>
          <a:prstGeom prst="roundRect">
            <a:avLst>
              <a:gd name="adj" fmla="val 14118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39136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40FF"/>
                </a:solidFill>
              </a:rPr>
              <a:t>2019 UCL 결승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418795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8F0"/>
                </a:solidFill>
              </a:rPr>
              <a:t>리버풀과의 결승에서 페널티킥 득점. 비록 준우승이지만 아시아 선수 UCL 결승 득점은 역사에 영원히 기록.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40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B40FF"/>
                </a:solidFill>
              </a:rPr>
              <a:t>역겨운 이유 #4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7171"/>
                </a:solidFill>
              </a:rPr>
              <a:t>군대</a:t>
            </a:r>
            <a:pPr algn="ctr" indent="0" marL="0">
              <a:buNone/>
            </a:pPr>
            <a:r>
              <a:rPr lang="en-US" sz="3200" b="1" dirty="0">
                <a:solidFill>
                  <a:srgbClr val="E8E8F0"/>
                </a:solidFill>
              </a:rPr>
              <a:t>도 </a:t>
            </a:r>
            <a:pPr algn="ctr" indent="0" marL="0">
              <a:buNone/>
            </a:pPr>
            <a:r>
              <a:rPr lang="en-US" sz="3200" b="1" dirty="0">
                <a:solidFill>
                  <a:srgbClr val="5B40FF"/>
                </a:solidFill>
              </a:rPr>
              <a:t>역겨운 사람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931920" y="14173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🪖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551176"/>
            <a:ext cx="640080" cy="384048"/>
          </a:xfrm>
          <a:prstGeom prst="rect">
            <a:avLst>
              <a:gd name="adj" fmla="val 14286"/>
            </a:avLst>
          </a:prstGeom>
          <a:solidFill>
            <a:srgbClr val="1A1428"/>
          </a:solidFill>
          <a:ln w="12700">
            <a:solidFill>
              <a:srgbClr val="5B40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0FF"/>
                </a:solidFill>
              </a:rPr>
              <a:t>배경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2532888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8F0"/>
                </a:solidFill>
              </a:rPr>
              <a:t>한국 남성은 의무 군복무. 축구 선수에게 전성기 2년은 커리어의 절반. 일반인도 힘든 군대를 어떻게 소화했을까.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374136"/>
            <a:ext cx="640080" cy="384048"/>
          </a:xfrm>
          <a:prstGeom prst="rect">
            <a:avLst>
              <a:gd name="adj" fmla="val 14286"/>
            </a:avLst>
          </a:prstGeom>
          <a:solidFill>
            <a:srgbClr val="1A1428"/>
          </a:solidFill>
          <a:ln w="12700">
            <a:solidFill>
              <a:srgbClr val="5B40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0FF"/>
                </a:solidFill>
              </a:rPr>
              <a:t>2018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3355848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8F0"/>
                </a:solidFill>
              </a:rPr>
              <a:t>아시안게임 금메달로 병역특례 획득 — 그런데 이마저도 "땀 흘려 싸워서" 얻은 것. 군복무를 자청해서 신청한 성실함.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6908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197096"/>
            <a:ext cx="640080" cy="384048"/>
          </a:xfrm>
          <a:prstGeom prst="rect">
            <a:avLst>
              <a:gd name="adj" fmla="val 14286"/>
            </a:avLst>
          </a:prstGeom>
          <a:solidFill>
            <a:srgbClr val="1A1428"/>
          </a:solidFill>
          <a:ln w="12700">
            <a:solidFill>
              <a:srgbClr val="5B40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0FF"/>
                </a:solidFill>
              </a:rPr>
              <a:t>결론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4178808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8F0"/>
                </a:solidFill>
              </a:rPr>
              <a:t>복무 기간에도 꾸준한 체력 관리. 복귀 후 퍼포먼스 전혀 저하 없음. 복귀 즉시 팀 에이스 복귀. 이게 사람이냐.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40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B40FF"/>
                </a:solidFill>
              </a:rPr>
              <a:t>PART 3 — 인성까지 역겨운 이유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E8F0"/>
                </a:solidFill>
              </a:rPr>
              <a:t>실력은 그렇다 쳐도 </a:t>
            </a:r>
            <a:pPr algn="ctr" indent="0" marL="0">
              <a:buNone/>
            </a:pPr>
            <a:r>
              <a:rPr lang="en-US" sz="2800" b="1" dirty="0">
                <a:solidFill>
                  <a:srgbClr val="F87171"/>
                </a:solidFill>
              </a:rPr>
              <a:t>인성은 왜 좋아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64792"/>
            <a:ext cx="777240" cy="365760"/>
          </a:xfrm>
          <a:prstGeom prst="rect">
            <a:avLst>
              <a:gd name="adj" fmla="val 15000"/>
            </a:avLst>
          </a:prstGeom>
          <a:solidFill>
            <a:srgbClr val="1A1428"/>
          </a:solidFill>
          <a:ln w="12700">
            <a:solidFill>
              <a:srgbClr val="5B40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0FF"/>
                </a:solidFill>
              </a:rPr>
              <a:t>팀워크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08760" y="1737360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8E8F0"/>
                </a:solidFill>
              </a:rPr>
              <a:t>동료 골에 본인 골만큼 기뻐한다. 팬들이 뽑은 "같이 뛰고 싶은 선수 1위". 개인 욕심 없이 팀 플레이를 먼저 생각.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95728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14600"/>
            <a:ext cx="777240" cy="365760"/>
          </a:xfrm>
          <a:prstGeom prst="rect">
            <a:avLst>
              <a:gd name="adj" fmla="val 15000"/>
            </a:avLst>
          </a:prstGeom>
          <a:solidFill>
            <a:srgbClr val="1A1428"/>
          </a:solidFill>
          <a:ln w="12700">
            <a:solidFill>
              <a:srgbClr val="5B40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0FF"/>
                </a:solidFill>
              </a:rPr>
              <a:t>팬 사랑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2487168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8E8F0"/>
                </a:solidFill>
              </a:rPr>
              <a:t>경기 후 어린이 팬들에게 항상 사인과 사진. 훈련 끝나고 팬들이 기다리는 걸 알면 절대 그냥 안 지나친다. 배우 급 외모에 성격까지 이럴 필요는 없다.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45536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64408"/>
            <a:ext cx="777240" cy="365760"/>
          </a:xfrm>
          <a:prstGeom prst="rect">
            <a:avLst>
              <a:gd name="adj" fmla="val 15000"/>
            </a:avLst>
          </a:prstGeom>
          <a:solidFill>
            <a:srgbClr val="1A1428"/>
          </a:solidFill>
          <a:ln w="12700">
            <a:solidFill>
              <a:srgbClr val="5B40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0FF"/>
                </a:solidFill>
              </a:rPr>
              <a:t>겸손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08760" y="3236976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8E8F0"/>
                </a:solidFill>
              </a:rPr>
              <a:t>"아직 부족하다"는 말을 10년째 하고 있다. 황금부츠 받은 날도 "팀 덕분"이라고 말함. 본인이 역겨운 걸 모르는 척한다.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95344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014216"/>
            <a:ext cx="777240" cy="365760"/>
          </a:xfrm>
          <a:prstGeom prst="rect">
            <a:avLst>
              <a:gd name="adj" fmla="val 15000"/>
            </a:avLst>
          </a:prstGeom>
          <a:solidFill>
            <a:srgbClr val="1A1428"/>
          </a:solidFill>
          <a:ln w="12700">
            <a:solidFill>
              <a:srgbClr val="5B40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0FF"/>
                </a:solidFill>
              </a:rPr>
              <a:t>기부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08760" y="3986784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8E8F0"/>
                </a:solidFill>
              </a:rPr>
              <a:t>개인 기부 및 사회 공헌 지속적으로 이어가고 있음. 화려하게 알리지 않아서 더 역겹다.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40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B40FF"/>
                </a:solidFill>
              </a:rPr>
              <a:t>역겨운 이유 #5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E8F0"/>
                </a:solidFill>
              </a:rPr>
              <a:t>저 </a:t>
            </a:r>
            <a:pPr algn="ctr" indent="0" marL="0">
              <a:buNone/>
            </a:pPr>
            <a:r>
              <a:rPr lang="en-US" sz="3200" b="1" dirty="0">
                <a:solidFill>
                  <a:srgbClr val="5B40FF"/>
                </a:solidFill>
              </a:rPr>
              <a:t>웃음</a:t>
            </a:r>
            <a:pPr algn="ctr" indent="0" marL="0">
              <a:buNone/>
            </a:pPr>
            <a:r>
              <a:rPr lang="en-US" sz="3200" b="1" dirty="0">
                <a:solidFill>
                  <a:srgbClr val="E8E8F0"/>
                </a:solidFill>
              </a:rPr>
              <a:t>은 무슨 무기냐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7680960" cy="1097280"/>
          </a:xfrm>
          <a:prstGeom prst="roundRect">
            <a:avLst>
              <a:gd name="adj" fmla="val 10000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5B40FF"/>
                </a:solidFill>
              </a:rPr>
              <a:t>"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E8E8F0"/>
                </a:solidFill>
              </a:rPr>
              <a:t>손흥민이 웃으면 상대 수비수도 흔들린다는 설이 있다.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E8E8F0"/>
                </a:solidFill>
              </a:rPr>
              <a:t>근거: 실제로 자꾸 웃으면서 드리블하다가 골 넣음.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874520" cy="1097280"/>
          </a:xfrm>
          <a:prstGeom prst="roundRect">
            <a:avLst>
              <a:gd name="adj" fmla="val 10000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260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😄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34930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</a:rPr>
              <a:t>골 세리머니: 항상 웃음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2880360"/>
            <a:ext cx="1874520" cy="1097280"/>
          </a:xfrm>
          <a:prstGeom prst="roundRect">
            <a:avLst>
              <a:gd name="adj" fmla="val 10000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9260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😄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06040" y="34930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</a:rPr>
              <a:t>실수 후에도: 웃으며 박수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880360"/>
            <a:ext cx="1874520" cy="1097280"/>
          </a:xfrm>
          <a:prstGeom prst="roundRect">
            <a:avLst>
              <a:gd name="adj" fmla="val 10000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9260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😄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34930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</a:rPr>
              <a:t>인터뷰 중: 계속 웃음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2880360"/>
            <a:ext cx="1874520" cy="1097280"/>
          </a:xfrm>
          <a:prstGeom prst="roundRect">
            <a:avLst>
              <a:gd name="adj" fmla="val 10000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29260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😤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20840" y="34930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</a:rPr>
              <a:t>시청자 반응: 짜증 남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40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B40FF"/>
                </a:solidFill>
              </a:rPr>
              <a:t>역겨운 이유 #6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E8F0"/>
                </a:solidFill>
              </a:rPr>
              <a:t>다른 선수들과 </a:t>
            </a:r>
            <a:pPr algn="ctr" indent="0" marL="0">
              <a:buNone/>
            </a:pPr>
            <a:r>
              <a:rPr lang="en-US" sz="3200" b="1" dirty="0">
                <a:solidFill>
                  <a:srgbClr val="5B40FF"/>
                </a:solidFill>
              </a:rPr>
              <a:t>비교</a:t>
            </a:r>
            <a:pPr algn="ctr" indent="0" marL="0">
              <a:buNone/>
            </a:pPr>
            <a:r>
              <a:rPr lang="en-US" sz="3200" b="1" dirty="0">
                <a:solidFill>
                  <a:srgbClr val="E8E8F0"/>
                </a:solidFill>
              </a:rPr>
              <a:t>해보자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88899"/>
                </a:solidFill>
              </a:rPr>
              <a:t>항목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0" y="16459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88899"/>
                </a:solidFill>
              </a:rPr>
              <a:t>일반 선수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16459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88899"/>
                </a:solidFill>
              </a:rPr>
              <a:t>손흥민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2468880" cy="475488"/>
          </a:xfrm>
          <a:prstGeom prst="roundRect">
            <a:avLst>
              <a:gd name="adj" fmla="val 2307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762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F0"/>
                </a:solidFill>
              </a:rPr>
              <a:t>부상 후 복귀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2103120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1762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99"/>
                </a:solidFill>
              </a:rPr>
              <a:t>수개월 재활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2103120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21762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40FF"/>
                </a:solidFill>
              </a:rPr>
              <a:t>부상 중에 골 넣음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670048"/>
            <a:ext cx="2468880" cy="475488"/>
          </a:xfrm>
          <a:prstGeom prst="roundRect">
            <a:avLst>
              <a:gd name="adj" fmla="val 2307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43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F0"/>
                </a:solidFill>
              </a:rPr>
              <a:t>국가대표 의무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08960" y="2670048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743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99"/>
                </a:solidFill>
              </a:rPr>
              <a:t>클럽 눈치 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2670048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2743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40FF"/>
                </a:solidFill>
              </a:rPr>
              <a:t>항상 100% 출전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236976"/>
            <a:ext cx="2468880" cy="475488"/>
          </a:xfrm>
          <a:prstGeom prst="roundRect">
            <a:avLst>
              <a:gd name="adj" fmla="val 2307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3101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F0"/>
                </a:solidFill>
              </a:rPr>
              <a:t>나이 들면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108960" y="3236976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33101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99"/>
                </a:solidFill>
              </a:rPr>
              <a:t>퍼포먼스 저하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0" y="3236976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33101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40FF"/>
                </a:solidFill>
              </a:rPr>
              <a:t>30대에 황금부츠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803904"/>
            <a:ext cx="2468880" cy="475488"/>
          </a:xfrm>
          <a:prstGeom prst="roundRect">
            <a:avLst>
              <a:gd name="adj" fmla="val 2307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87705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F0"/>
                </a:solidFill>
              </a:rPr>
              <a:t>돈 많이 벌면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108960" y="3803904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38770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99"/>
                </a:solidFill>
              </a:rPr>
              <a:t>동기부여 감소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43600" y="3803904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38770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40FF"/>
                </a:solidFill>
              </a:rPr>
              <a:t>그래도 열심히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4370832"/>
            <a:ext cx="2468880" cy="475488"/>
          </a:xfrm>
          <a:prstGeom prst="roundRect">
            <a:avLst>
              <a:gd name="adj" fmla="val 2307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44398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F0"/>
                </a:solidFill>
              </a:rPr>
              <a:t>유명해지면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108960" y="4370832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444398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99"/>
                </a:solidFill>
              </a:rPr>
              <a:t>팬 무시 가능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43600" y="4370832"/>
            <a:ext cx="2651760" cy="475488"/>
          </a:xfrm>
          <a:prstGeom prst="roundRect">
            <a:avLst>
              <a:gd name="adj" fmla="val 2307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444398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40FF"/>
                </a:solidFill>
              </a:rPr>
              <a:t>여전히 팬 챙김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40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B40FF"/>
                </a:solidFill>
              </a:rPr>
              <a:t>PART 4 — 글로벌 영향력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E8F0"/>
                </a:solidFill>
              </a:rPr>
              <a:t>한국을 </a:t>
            </a:r>
            <a:pPr algn="ctr" indent="0" marL="0">
              <a:buNone/>
            </a:pPr>
            <a:r>
              <a:rPr lang="en-US" sz="3200" b="1" dirty="0">
                <a:solidFill>
                  <a:srgbClr val="5B40FF"/>
                </a:solidFill>
              </a:rPr>
              <a:t>세계 지도</a:t>
            </a:r>
            <a:pPr algn="ctr" indent="0" marL="0">
              <a:buNone/>
            </a:pPr>
            <a:r>
              <a:rPr lang="en-US" sz="3200" b="1" dirty="0">
                <a:solidFill>
                  <a:srgbClr val="E8E8F0"/>
                </a:solidFill>
              </a:rPr>
              <a:t>에 올린 남자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6459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190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21945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8F0"/>
                </a:solidFill>
              </a:rPr>
              <a:t>SNS 수천만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5603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</a:rPr>
              <a:t>팔로워 (인스타그램 기준)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6459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7190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🎤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154680" y="21945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8F0"/>
                </a:solidFill>
              </a:rPr>
              <a:t>영어·독어·한국어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54680" y="25603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</a:rPr>
              <a:t>3개 국어 능숙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9320" y="16459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7190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🏅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989320" y="21945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8F0"/>
                </a:solidFill>
              </a:rPr>
              <a:t>대한민국 체육훈장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89320" y="25603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</a:rPr>
              <a:t>청룡장 수훈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1363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📺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20040" y="36118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8F0"/>
                </a:solidFill>
              </a:rPr>
              <a:t>EPL 중계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" y="3977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</a:rPr>
              <a:t>한국 시청률 폭발의 주범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30632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31363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🇰🇷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154680" y="36118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8F0"/>
                </a:solidFill>
              </a:rPr>
              <a:t>국격 상승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54680" y="3977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</a:rPr>
              <a:t>외국인이 한국을 좋아하는 이유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89320" y="30632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31363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👦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89320" y="36118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8F0"/>
                </a:solidFill>
              </a:rPr>
              <a:t>세대 롤모델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89320" y="3977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</a:rPr>
              <a:t>한국 청소년 꿈 1위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40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B40FF"/>
                </a:solidFill>
              </a:rPr>
              <a:t>역겨운 이유 #7 — 그가 한 말들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E8F0"/>
                </a:solidFill>
              </a:rPr>
              <a:t>명언도 </a:t>
            </a:r>
            <a:pPr algn="ctr" indent="0" marL="0">
              <a:buNone/>
            </a:pPr>
            <a:r>
              <a:rPr lang="en-US" sz="3200" b="1" dirty="0">
                <a:solidFill>
                  <a:srgbClr val="5B40FF"/>
                </a:solidFill>
              </a:rPr>
              <a:t>역겨운 남자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5B40FF"/>
                </a:solidFill>
              </a:rPr>
              <a:t>"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1280160" y="192024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400" i="1" dirty="0">
                <a:solidFill>
                  <a:srgbClr val="E8E8F0"/>
                </a:solidFill>
              </a:rPr>
              <a:t>저는 항상 어제보다 더 나은 오늘을 꿈꿉니다.</a:t>
            </a:r>
            <a:endParaRPr lang="en-US" sz="2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2400" i="1" dirty="0">
                <a:solidFill>
                  <a:srgbClr val="E8E8F0"/>
                </a:solidFill>
              </a:rPr>
              <a:t>그게 저를 움직이는 힘이에요.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99"/>
                </a:solidFill>
              </a:rPr>
              <a:t>— 손흥민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3840480"/>
            <a:ext cx="6400800" cy="640080"/>
          </a:xfrm>
          <a:prstGeom prst="roundRect">
            <a:avLst>
              <a:gd name="adj" fmla="val 17143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9136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</a:rPr>
              <a:t>실력도 있고 인성도 있고 명언까지 있다. 이건 불공평하다.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40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B40FF"/>
                </a:solidFill>
              </a:rPr>
              <a:t>종합 분석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E8F0"/>
                </a:solidFill>
              </a:rPr>
              <a:t>역겨움 지수 </a:t>
            </a:r>
            <a:pPr algn="ctr" indent="0" marL="0">
              <a:buNone/>
            </a:pPr>
            <a:r>
              <a:rPr lang="en-US" sz="3200" b="1" dirty="0">
                <a:solidFill>
                  <a:srgbClr val="5B40FF"/>
                </a:solidFill>
              </a:rPr>
              <a:t>최종 산출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0"/>
                </a:solidFill>
              </a:rPr>
              <a:t>실력 (기술·골·어시스트)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0" y="1783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40FF"/>
                </a:solidFill>
              </a:rPr>
              <a:t>99.9 / 100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167128"/>
            <a:ext cx="7589520" cy="182880"/>
          </a:xfrm>
          <a:prstGeom prst="roundRect">
            <a:avLst>
              <a:gd name="adj" fmla="val 50000"/>
            </a:avLst>
          </a:prstGeom>
          <a:solidFill>
            <a:srgbClr val="1E1E32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167128"/>
            <a:ext cx="7513625" cy="182880"/>
          </a:xfrm>
          <a:prstGeom prst="roundRect">
            <a:avLst>
              <a:gd name="adj" fmla="val 50000"/>
            </a:avLst>
          </a:prstGeom>
          <a:solidFill>
            <a:srgbClr val="5B40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65176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43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0"/>
                </a:solidFill>
              </a:rPr>
              <a:t>인성 (팬·동료·겸손)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100 / 100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127248"/>
            <a:ext cx="7589520" cy="182880"/>
          </a:xfrm>
          <a:prstGeom prst="roundRect">
            <a:avLst>
              <a:gd name="adj" fmla="val 50000"/>
            </a:avLst>
          </a:prstGeom>
          <a:solidFill>
            <a:srgbClr val="1E1E32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3127248"/>
            <a:ext cx="7589520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61188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703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0"/>
                </a:solidFill>
              </a:rPr>
              <a:t>외모 (팬 기준)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0" y="3703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87171"/>
                </a:solidFill>
              </a:rPr>
              <a:t>역겹게 잘생김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4087368"/>
            <a:ext cx="7589520" cy="182880"/>
          </a:xfrm>
          <a:prstGeom prst="roundRect">
            <a:avLst>
              <a:gd name="adj" fmla="val 50000"/>
            </a:avLst>
          </a:prstGeom>
          <a:solidFill>
            <a:srgbClr val="1E1E32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4087368"/>
            <a:ext cx="7361834" cy="18288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57200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663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0"/>
                </a:solidFill>
              </a:rPr>
              <a:t>전체 역겨움 지수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0720" y="4663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E8F0"/>
                </a:solidFill>
              </a:rPr>
              <a:t>💀 측정 불가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5047488"/>
            <a:ext cx="7589520" cy="182880"/>
          </a:xfrm>
          <a:prstGeom prst="roundRect">
            <a:avLst>
              <a:gd name="adj" fmla="val 50000"/>
            </a:avLst>
          </a:prstGeom>
          <a:solidFill>
            <a:srgbClr val="1E1E32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5047488"/>
            <a:ext cx="7589520" cy="182880"/>
          </a:xfrm>
          <a:prstGeom prst="roundRect">
            <a:avLst>
              <a:gd name="adj" fmla="val 50000"/>
            </a:avLst>
          </a:prstGeom>
          <a:solidFill>
            <a:srgbClr val="E8E8F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40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B40FF"/>
                </a:solidFill>
              </a:rPr>
              <a:t>결론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E8F0"/>
                </a:solidFill>
              </a:rPr>
              <a:t>그래서 손흥민은 </a:t>
            </a:r>
            <a:pPr algn="ctr" indent="0" marL="0">
              <a:buNone/>
            </a:pPr>
            <a:r>
              <a:rPr lang="en-US" sz="3200" b="1" dirty="0">
                <a:solidFill>
                  <a:srgbClr val="5B40FF"/>
                </a:solidFill>
              </a:rPr>
              <a:t>왜 역겨운가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55648"/>
            <a:ext cx="822960" cy="347472"/>
          </a:xfrm>
          <a:prstGeom prst="rect">
            <a:avLst>
              <a:gd name="adj" fmla="val 15789"/>
            </a:avLst>
          </a:prstGeom>
          <a:solidFill>
            <a:srgbClr val="1A1428"/>
          </a:solidFill>
          <a:ln w="12700">
            <a:solidFill>
              <a:srgbClr val="5B40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0FF"/>
                </a:solidFill>
              </a:rPr>
              <a:t>이유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87171"/>
                </a:solidFill>
              </a:rPr>
              <a:t>타고난 재능에 노력까지 했다 — 공평하지 않다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68880"/>
            <a:ext cx="822960" cy="347472"/>
          </a:xfrm>
          <a:prstGeom prst="rect">
            <a:avLst>
              <a:gd name="adj" fmla="val 15789"/>
            </a:avLst>
          </a:prstGeom>
          <a:solidFill>
            <a:srgbClr val="1A1428"/>
          </a:solidFill>
          <a:ln w="12700">
            <a:solidFill>
              <a:srgbClr val="5B40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0FF"/>
                </a:solidFill>
              </a:rPr>
              <a:t>이유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245059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87171"/>
                </a:solidFill>
              </a:rPr>
              <a:t>EPL 황금부츠를 아시아 선수 최초로 받았다 — 우리가 못 받을 걸 받았다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182112"/>
            <a:ext cx="822960" cy="347472"/>
          </a:xfrm>
          <a:prstGeom prst="rect">
            <a:avLst>
              <a:gd name="adj" fmla="val 15789"/>
            </a:avLst>
          </a:prstGeom>
          <a:solidFill>
            <a:srgbClr val="1A1428"/>
          </a:solidFill>
          <a:ln w="12700">
            <a:solidFill>
              <a:srgbClr val="5B40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0FF"/>
                </a:solidFill>
              </a:rPr>
              <a:t>이유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3163824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87171"/>
                </a:solidFill>
              </a:rPr>
              <a:t>실력 좋은 건 참겠는데 인성까지 좋다 — 말이 안 된다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785616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95344"/>
            <a:ext cx="822960" cy="347472"/>
          </a:xfrm>
          <a:prstGeom prst="rect">
            <a:avLst>
              <a:gd name="adj" fmla="val 15789"/>
            </a:avLst>
          </a:prstGeom>
          <a:solidFill>
            <a:srgbClr val="1A1428"/>
          </a:solidFill>
          <a:ln w="12700">
            <a:solidFill>
              <a:srgbClr val="5B40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0FF"/>
                </a:solidFill>
              </a:rPr>
              <a:t>이유 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3877056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87171"/>
                </a:solidFill>
              </a:rPr>
              <a:t>잘생기기까지 했다 — 이건 진짜 역겹다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498848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608576"/>
            <a:ext cx="822960" cy="347472"/>
          </a:xfrm>
          <a:prstGeom prst="rect">
            <a:avLst>
              <a:gd name="adj" fmla="val 15789"/>
            </a:avLst>
          </a:prstGeom>
          <a:solidFill>
            <a:srgbClr val="1A1428"/>
          </a:solidFill>
          <a:ln w="12700">
            <a:solidFill>
              <a:srgbClr val="5B40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0FF"/>
                </a:solidFill>
              </a:rPr>
              <a:t>이유 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54480" y="4590288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40FF"/>
                </a:solidFill>
              </a:rPr>
              <a:t>한국인이라 미울 수도 없다 — 그래서 더 역겹다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B40FF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914400"/>
            <a:ext cx="5486400" cy="4572000"/>
          </a:xfrm>
          <a:prstGeom prst="ellipse">
            <a:avLst/>
          </a:prstGeom>
          <a:solidFill>
            <a:srgbClr val="5B40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886200" y="457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🙏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B40FF"/>
                </a:solidFill>
              </a:rPr>
              <a:t>마무리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E8F0"/>
                </a:solidFill>
              </a:rPr>
              <a:t>손흥민, 우리가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B40FF"/>
                </a:solidFill>
              </a:rPr>
              <a:t>역겨울 정도로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E8F0"/>
                </a:solidFill>
              </a:rPr>
              <a:t>자랑스럽습니다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88899"/>
                </a:solidFill>
              </a:rPr>
              <a:t>30분 동안 역겨움을 들어주셔서 감사합니다.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88899"/>
                </a:solidFill>
              </a:rPr>
              <a:t>앞으로도 더 많이 역겨워지기를 응원합니다.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443484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4480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⚽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49560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더 많은 골을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443484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4480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57600" y="49560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더 많은 우승을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443484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10101A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4480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😄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943600" y="49560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더 많은 웃음을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2026-03-29T13:57:23Z</dcterms:created>
  <dcterms:modified xsi:type="dcterms:W3CDTF">2026-03-29T13:57:23Z</dcterms:modified>
</cp:coreProperties>
</file>